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18288000" cy="10287000"/>
  <p:notesSz cx="6858000" cy="9144000"/>
  <p:embeddedFontLst>
    <p:embeddedFont>
      <p:font typeface="Klein Bold" charset="1" panose="02000503060000020004"/>
      <p:regular r:id="rId10"/>
    </p:embeddedFont>
    <p:embeddedFont>
      <p:font typeface="Helios" charset="1" panose="020B0504020202020204"/>
      <p:regular r:id="rId11"/>
    </p:embeddedFont>
    <p:embeddedFont>
      <p:font typeface="Klein" charset="1" panose="02000503060000020004"/>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docs.google.com/spreadsheets/d/1I-Y4WQekpPqdov4ZhSxOJEWJ9YI4Q2rHtzSvAcCo528/edit?usp=sharing"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66927" y="-4280359"/>
            <a:ext cx="10812392" cy="10812392"/>
          </a:xfrm>
          <a:custGeom>
            <a:avLst/>
            <a:gdLst/>
            <a:ahLst/>
            <a:cxnLst/>
            <a:rect r="r" b="b" t="t" l="l"/>
            <a:pathLst>
              <a:path h="10812392" w="10812392">
                <a:moveTo>
                  <a:pt x="0" y="0"/>
                </a:moveTo>
                <a:lnTo>
                  <a:pt x="10812393" y="0"/>
                </a:lnTo>
                <a:lnTo>
                  <a:pt x="10812393" y="10812392"/>
                </a:lnTo>
                <a:lnTo>
                  <a:pt x="0" y="108123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07200" y="4432068"/>
            <a:ext cx="5764383" cy="5764383"/>
          </a:xfrm>
          <a:custGeom>
            <a:avLst/>
            <a:gdLst/>
            <a:ahLst/>
            <a:cxnLst/>
            <a:rect r="r" b="b" t="t" l="l"/>
            <a:pathLst>
              <a:path h="5764383" w="5764383">
                <a:moveTo>
                  <a:pt x="0" y="0"/>
                </a:moveTo>
                <a:lnTo>
                  <a:pt x="5764383" y="0"/>
                </a:lnTo>
                <a:lnTo>
                  <a:pt x="5764383" y="5764383"/>
                </a:lnTo>
                <a:lnTo>
                  <a:pt x="0" y="5764383"/>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7078" y="7902203"/>
            <a:ext cx="5764383" cy="5764383"/>
          </a:xfrm>
          <a:custGeom>
            <a:avLst/>
            <a:gdLst/>
            <a:ahLst/>
            <a:cxnLst/>
            <a:rect r="r" b="b" t="t" l="l"/>
            <a:pathLst>
              <a:path h="5764383" w="5764383">
                <a:moveTo>
                  <a:pt x="0" y="0"/>
                </a:moveTo>
                <a:lnTo>
                  <a:pt x="5764383" y="0"/>
                </a:lnTo>
                <a:lnTo>
                  <a:pt x="5764383" y="5764382"/>
                </a:lnTo>
                <a:lnTo>
                  <a:pt x="0" y="5764382"/>
                </a:lnTo>
                <a:lnTo>
                  <a:pt x="0" y="0"/>
                </a:lnTo>
                <a:close/>
              </a:path>
            </a:pathLst>
          </a:custGeom>
          <a:blipFill>
            <a:blip r:embed="rId2">
              <a:alphaModFix amt="80000"/>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7994271" y="3704377"/>
            <a:ext cx="10097288" cy="1951102"/>
          </a:xfrm>
          <a:prstGeom prst="rect">
            <a:avLst/>
          </a:prstGeom>
        </p:spPr>
        <p:txBody>
          <a:bodyPr anchor="t" rtlCol="false" tIns="0" lIns="0" bIns="0" rIns="0">
            <a:spAutoFit/>
          </a:bodyPr>
          <a:lstStyle/>
          <a:p>
            <a:pPr algn="l">
              <a:lnSpc>
                <a:spcPts val="7683"/>
              </a:lnSpc>
            </a:pPr>
            <a:r>
              <a:rPr lang="en-US" sz="6402" b="true">
                <a:solidFill>
                  <a:srgbClr val="2A2E3A"/>
                </a:solidFill>
                <a:latin typeface="Klein Bold"/>
                <a:ea typeface="Klein Bold"/>
                <a:cs typeface="Klein Bold"/>
                <a:sym typeface="Klein Bold"/>
              </a:rPr>
              <a:t>Sales Behavior and Customer Data Project</a:t>
            </a:r>
          </a:p>
        </p:txBody>
      </p:sp>
      <p:sp>
        <p:nvSpPr>
          <p:cNvPr name="TextBox 6" id="6"/>
          <p:cNvSpPr txBox="true"/>
          <p:nvPr/>
        </p:nvSpPr>
        <p:spPr>
          <a:xfrm rot="0">
            <a:off x="12641750" y="5851022"/>
            <a:ext cx="5449809" cy="457835"/>
          </a:xfrm>
          <a:prstGeom prst="rect">
            <a:avLst/>
          </a:prstGeom>
        </p:spPr>
        <p:txBody>
          <a:bodyPr anchor="t" rtlCol="false" tIns="0" lIns="0" bIns="0" rIns="0">
            <a:spAutoFit/>
          </a:bodyPr>
          <a:lstStyle/>
          <a:p>
            <a:pPr algn="ctr">
              <a:lnSpc>
                <a:spcPts val="3639"/>
              </a:lnSpc>
              <a:spcBef>
                <a:spcPct val="0"/>
              </a:spcBef>
            </a:pPr>
            <a:r>
              <a:rPr lang="en-US" sz="2599" u="sng">
                <a:solidFill>
                  <a:srgbClr val="2A2E3A"/>
                </a:solidFill>
                <a:latin typeface="Helios"/>
                <a:ea typeface="Helios"/>
                <a:cs typeface="Helios"/>
                <a:sym typeface="Helios"/>
                <a:hlinkClick r:id="rId4" tooltip="https://docs.google.com/spreadsheets/d/1I-Y4WQekpPqdov4ZhSxOJEWJ9YI4Q2rHtzSvAcCo528/edit?usp=sharing"/>
              </a:rPr>
              <a:t>dataset used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53969"/>
        </a:solidFill>
      </p:bgPr>
    </p:bg>
    <p:spTree>
      <p:nvGrpSpPr>
        <p:cNvPr id="1" name=""/>
        <p:cNvGrpSpPr/>
        <p:nvPr/>
      </p:nvGrpSpPr>
      <p:grpSpPr>
        <a:xfrm>
          <a:off x="0" y="0"/>
          <a:ext cx="0" cy="0"/>
          <a:chOff x="0" y="0"/>
          <a:chExt cx="0" cy="0"/>
        </a:xfrm>
      </p:grpSpPr>
      <p:grpSp>
        <p:nvGrpSpPr>
          <p:cNvPr name="Group 2" id="2"/>
          <p:cNvGrpSpPr/>
          <p:nvPr/>
        </p:nvGrpSpPr>
        <p:grpSpPr>
          <a:xfrm rot="0">
            <a:off x="9525" y="0"/>
            <a:ext cx="18288000" cy="3773114"/>
            <a:chOff x="0" y="0"/>
            <a:chExt cx="24384000" cy="5030819"/>
          </a:xfrm>
        </p:grpSpPr>
        <p:pic>
          <p:nvPicPr>
            <p:cNvPr name="Picture 3" id="3"/>
            <p:cNvPicPr>
              <a:picLocks noChangeAspect="true"/>
            </p:cNvPicPr>
            <p:nvPr/>
          </p:nvPicPr>
          <p:blipFill>
            <a:blip r:embed="rId2">
              <a:alphaModFix amt="14000"/>
            </a:blip>
            <a:srcRect l="0" t="27933" r="0" b="41099"/>
            <a:stretch>
              <a:fillRect/>
            </a:stretch>
          </p:blipFill>
          <p:spPr>
            <a:xfrm flipH="false" flipV="false">
              <a:off x="0" y="0"/>
              <a:ext cx="24384000" cy="5030819"/>
            </a:xfrm>
            <a:prstGeom prst="rect">
              <a:avLst/>
            </a:prstGeom>
          </p:spPr>
        </p:pic>
      </p:grpSp>
      <p:grpSp>
        <p:nvGrpSpPr>
          <p:cNvPr name="Group 4" id="4"/>
          <p:cNvGrpSpPr/>
          <p:nvPr/>
        </p:nvGrpSpPr>
        <p:grpSpPr>
          <a:xfrm rot="0">
            <a:off x="0" y="3773114"/>
            <a:ext cx="18288000" cy="6513886"/>
            <a:chOff x="0" y="0"/>
            <a:chExt cx="4816593" cy="1715591"/>
          </a:xfrm>
        </p:grpSpPr>
        <p:sp>
          <p:nvSpPr>
            <p:cNvPr name="Freeform 5" id="5"/>
            <p:cNvSpPr/>
            <p:nvPr/>
          </p:nvSpPr>
          <p:spPr>
            <a:xfrm flipH="false" flipV="false" rot="0">
              <a:off x="0" y="0"/>
              <a:ext cx="4816592" cy="1715591"/>
            </a:xfrm>
            <a:custGeom>
              <a:avLst/>
              <a:gdLst/>
              <a:ahLst/>
              <a:cxnLst/>
              <a:rect r="r" b="b" t="t" l="l"/>
              <a:pathLst>
                <a:path h="1715591" w="4816592">
                  <a:moveTo>
                    <a:pt x="0" y="0"/>
                  </a:moveTo>
                  <a:lnTo>
                    <a:pt x="4816592" y="0"/>
                  </a:lnTo>
                  <a:lnTo>
                    <a:pt x="4816592" y="1715591"/>
                  </a:lnTo>
                  <a:lnTo>
                    <a:pt x="0" y="1715591"/>
                  </a:lnTo>
                  <a:close/>
                </a:path>
              </a:pathLst>
            </a:custGeom>
            <a:solidFill>
              <a:srgbClr val="F4F4F4"/>
            </a:solidFill>
          </p:spPr>
        </p:sp>
        <p:sp>
          <p:nvSpPr>
            <p:cNvPr name="TextBox 6" id="6"/>
            <p:cNvSpPr txBox="true"/>
            <p:nvPr/>
          </p:nvSpPr>
          <p:spPr>
            <a:xfrm>
              <a:off x="0" y="-66675"/>
              <a:ext cx="4816593" cy="1782266"/>
            </a:xfrm>
            <a:prstGeom prst="rect">
              <a:avLst/>
            </a:prstGeom>
          </p:spPr>
          <p:txBody>
            <a:bodyPr anchor="ctr" rtlCol="false" tIns="50800" lIns="50800" bIns="50800" rIns="50800"/>
            <a:lstStyle/>
            <a:p>
              <a:pPr algn="ctr">
                <a:lnSpc>
                  <a:spcPts val="3639"/>
                </a:lnSpc>
              </a:pPr>
            </a:p>
          </p:txBody>
        </p:sp>
      </p:grpSp>
      <p:sp>
        <p:nvSpPr>
          <p:cNvPr name="Freeform 7" id="7"/>
          <p:cNvSpPr/>
          <p:nvPr/>
        </p:nvSpPr>
        <p:spPr>
          <a:xfrm flipH="false" flipV="false" rot="0">
            <a:off x="8333203" y="-1109791"/>
            <a:ext cx="1621594" cy="1621594"/>
          </a:xfrm>
          <a:custGeom>
            <a:avLst/>
            <a:gdLst/>
            <a:ahLst/>
            <a:cxnLst/>
            <a:rect r="r" b="b" t="t" l="l"/>
            <a:pathLst>
              <a:path h="1621594" w="1621594">
                <a:moveTo>
                  <a:pt x="0" y="0"/>
                </a:moveTo>
                <a:lnTo>
                  <a:pt x="1621594" y="0"/>
                </a:lnTo>
                <a:lnTo>
                  <a:pt x="1621594" y="1621594"/>
                </a:lnTo>
                <a:lnTo>
                  <a:pt x="0" y="16215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8584528" y="9476203"/>
            <a:ext cx="1621594" cy="1621594"/>
          </a:xfrm>
          <a:custGeom>
            <a:avLst/>
            <a:gdLst/>
            <a:ahLst/>
            <a:cxnLst/>
            <a:rect r="r" b="b" t="t" l="l"/>
            <a:pathLst>
              <a:path h="1621594" w="1621594">
                <a:moveTo>
                  <a:pt x="0" y="0"/>
                </a:moveTo>
                <a:lnTo>
                  <a:pt x="1621594" y="0"/>
                </a:lnTo>
                <a:lnTo>
                  <a:pt x="1621594" y="1621594"/>
                </a:lnTo>
                <a:lnTo>
                  <a:pt x="0" y="16215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654244" y="1180727"/>
            <a:ext cx="14878659" cy="1139825"/>
          </a:xfrm>
          <a:prstGeom prst="rect">
            <a:avLst/>
          </a:prstGeom>
        </p:spPr>
        <p:txBody>
          <a:bodyPr anchor="t" rtlCol="false" tIns="0" lIns="0" bIns="0" rIns="0">
            <a:spAutoFit/>
          </a:bodyPr>
          <a:lstStyle/>
          <a:p>
            <a:pPr algn="ctr">
              <a:lnSpc>
                <a:spcPts val="9099"/>
              </a:lnSpc>
            </a:pPr>
            <a:r>
              <a:rPr lang="en-US" b="true" sz="6999">
                <a:solidFill>
                  <a:srgbClr val="FFFFFF"/>
                </a:solidFill>
                <a:latin typeface="Klein Bold"/>
                <a:ea typeface="Klein Bold"/>
                <a:cs typeface="Klein Bold"/>
                <a:sym typeface="Klein Bold"/>
              </a:rPr>
              <a:t>Questions I will answer:</a:t>
            </a:r>
          </a:p>
        </p:txBody>
      </p:sp>
      <p:sp>
        <p:nvSpPr>
          <p:cNvPr name="TextBox 10" id="10"/>
          <p:cNvSpPr txBox="true"/>
          <p:nvPr/>
        </p:nvSpPr>
        <p:spPr>
          <a:xfrm rot="0">
            <a:off x="133350" y="4222435"/>
            <a:ext cx="18771601" cy="4878321"/>
          </a:xfrm>
          <a:prstGeom prst="rect">
            <a:avLst/>
          </a:prstGeom>
        </p:spPr>
        <p:txBody>
          <a:bodyPr anchor="t" rtlCol="false" tIns="0" lIns="0" bIns="0" rIns="0">
            <a:spAutoFit/>
          </a:bodyPr>
          <a:lstStyle/>
          <a:p>
            <a:pPr algn="l" marL="626117" indent="-313059" lvl="1">
              <a:lnSpc>
                <a:spcPts val="5568"/>
              </a:lnSpc>
              <a:buAutoNum type="arabicPeriod" startAt="1"/>
            </a:pPr>
            <a:r>
              <a:rPr lang="en-US" sz="2900">
                <a:solidFill>
                  <a:srgbClr val="2A2E3A"/>
                </a:solidFill>
                <a:latin typeface="Klein"/>
                <a:ea typeface="Klein"/>
                <a:cs typeface="Klein"/>
                <a:sym typeface="Klein"/>
              </a:rPr>
              <a:t>What are top 5 best selling products?</a:t>
            </a:r>
          </a:p>
          <a:p>
            <a:pPr algn="l" marL="626117" indent="-313059" lvl="1">
              <a:lnSpc>
                <a:spcPts val="5568"/>
              </a:lnSpc>
              <a:buAutoNum type="arabicPeriod" startAt="1"/>
            </a:pPr>
            <a:r>
              <a:rPr lang="en-US" sz="2900">
                <a:solidFill>
                  <a:srgbClr val="2A2E3A"/>
                </a:solidFill>
                <a:latin typeface="Klein"/>
                <a:ea typeface="Klein"/>
                <a:cs typeface="Klein"/>
                <a:sym typeface="Klein"/>
              </a:rPr>
              <a:t>What shipping methods are the most preferred?</a:t>
            </a:r>
          </a:p>
          <a:p>
            <a:pPr algn="l" marL="626117" indent="-313059" lvl="1">
              <a:lnSpc>
                <a:spcPts val="5568"/>
              </a:lnSpc>
              <a:buAutoNum type="arabicPeriod" startAt="1"/>
            </a:pPr>
            <a:r>
              <a:rPr lang="en-US" sz="2900">
                <a:solidFill>
                  <a:srgbClr val="2A2E3A"/>
                </a:solidFill>
                <a:latin typeface="Klein"/>
                <a:ea typeface="Klein"/>
                <a:cs typeface="Klein"/>
                <a:sym typeface="Klein"/>
              </a:rPr>
              <a:t>Do consumers pay lower than average price after applying discounts?</a:t>
            </a:r>
          </a:p>
          <a:p>
            <a:pPr algn="l" marL="626117" indent="-313059" lvl="1">
              <a:lnSpc>
                <a:spcPts val="5568"/>
              </a:lnSpc>
              <a:buAutoNum type="arabicPeriod" startAt="1"/>
            </a:pPr>
            <a:r>
              <a:rPr lang="en-US" sz="2900">
                <a:solidFill>
                  <a:srgbClr val="2A2E3A"/>
                </a:solidFill>
                <a:latin typeface="Klein"/>
                <a:ea typeface="Klein"/>
                <a:cs typeface="Klein"/>
                <a:sym typeface="Klein"/>
              </a:rPr>
              <a:t>Which regions have the highest sales?</a:t>
            </a:r>
          </a:p>
          <a:p>
            <a:pPr algn="l" marL="626117" indent="-313059" lvl="1">
              <a:lnSpc>
                <a:spcPts val="5568"/>
              </a:lnSpc>
              <a:buAutoNum type="arabicPeriod" startAt="1"/>
            </a:pPr>
            <a:r>
              <a:rPr lang="en-US" sz="2900">
                <a:solidFill>
                  <a:srgbClr val="2A2E3A"/>
                </a:solidFill>
                <a:latin typeface="Klein"/>
                <a:ea typeface="Klein"/>
                <a:cs typeface="Klein"/>
                <a:sym typeface="Klein"/>
              </a:rPr>
              <a:t>How are sales across different demographics?</a:t>
            </a:r>
          </a:p>
          <a:p>
            <a:pPr algn="l" marL="626117" indent="-313059" lvl="1">
              <a:lnSpc>
                <a:spcPts val="5568"/>
              </a:lnSpc>
              <a:buAutoNum type="arabicPeriod" startAt="1"/>
            </a:pPr>
            <a:r>
              <a:rPr lang="en-US" sz="2900">
                <a:solidFill>
                  <a:srgbClr val="2A2E3A"/>
                </a:solidFill>
                <a:latin typeface="Klein"/>
                <a:ea typeface="Klein"/>
                <a:cs typeface="Klein"/>
                <a:sym typeface="Klein"/>
              </a:rPr>
              <a:t> Which category shows the maximum sales?</a:t>
            </a:r>
          </a:p>
          <a:p>
            <a:pPr algn="l" marL="626117" indent="-313059" lvl="1">
              <a:lnSpc>
                <a:spcPts val="5568"/>
              </a:lnSpc>
              <a:buAutoNum type="arabicPeriod" startAt="1"/>
            </a:pPr>
            <a:r>
              <a:rPr lang="en-US" sz="2900">
                <a:solidFill>
                  <a:srgbClr val="2A2E3A"/>
                </a:solidFill>
                <a:latin typeface="Klein"/>
                <a:ea typeface="Klein"/>
                <a:cs typeface="Klein"/>
                <a:sym typeface="Klein"/>
              </a:rPr>
              <a:t>How are seasonal variation in sales?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512801"/>
            <a:ext cx="18288000" cy="3608707"/>
          </a:xfrm>
          <a:custGeom>
            <a:avLst/>
            <a:gdLst/>
            <a:ahLst/>
            <a:cxnLst/>
            <a:rect r="r" b="b" t="t" l="l"/>
            <a:pathLst>
              <a:path h="3608707" w="18288000">
                <a:moveTo>
                  <a:pt x="0" y="0"/>
                </a:moveTo>
                <a:lnTo>
                  <a:pt x="18288000" y="0"/>
                </a:lnTo>
                <a:lnTo>
                  <a:pt x="18288000" y="3608707"/>
                </a:lnTo>
                <a:lnTo>
                  <a:pt x="0" y="3608707"/>
                </a:lnTo>
                <a:lnTo>
                  <a:pt x="0" y="0"/>
                </a:lnTo>
                <a:close/>
              </a:path>
            </a:pathLst>
          </a:custGeom>
          <a:blipFill>
            <a:blip r:embed="rId2">
              <a:extLst>
                <a:ext uri="{96DAC541-7B7A-43D3-8B79-37D633B846F1}">
                  <asvg:svgBlip xmlns:asvg="http://schemas.microsoft.com/office/drawing/2016/SVG/main" r:embed="rId3"/>
                </a:ext>
              </a:extLst>
            </a:blip>
            <a:stretch>
              <a:fillRect l="0" t="-184715" r="0" b="0"/>
            </a:stretch>
          </a:blipFill>
        </p:spPr>
      </p:sp>
      <p:sp>
        <p:nvSpPr>
          <p:cNvPr name="Freeform 3" id="3"/>
          <p:cNvSpPr/>
          <p:nvPr/>
        </p:nvSpPr>
        <p:spPr>
          <a:xfrm flipH="false" flipV="false" rot="0">
            <a:off x="-127747" y="2393205"/>
            <a:ext cx="13455360" cy="8246796"/>
          </a:xfrm>
          <a:custGeom>
            <a:avLst/>
            <a:gdLst/>
            <a:ahLst/>
            <a:cxnLst/>
            <a:rect r="r" b="b" t="t" l="l"/>
            <a:pathLst>
              <a:path h="8246796" w="13455360">
                <a:moveTo>
                  <a:pt x="0" y="0"/>
                </a:moveTo>
                <a:lnTo>
                  <a:pt x="13455360" y="0"/>
                </a:lnTo>
                <a:lnTo>
                  <a:pt x="13455360" y="8246796"/>
                </a:lnTo>
                <a:lnTo>
                  <a:pt x="0" y="8246796"/>
                </a:lnTo>
                <a:lnTo>
                  <a:pt x="0" y="0"/>
                </a:lnTo>
                <a:close/>
              </a:path>
            </a:pathLst>
          </a:custGeom>
          <a:blipFill>
            <a:blip r:embed="rId4"/>
            <a:stretch>
              <a:fillRect l="0" t="0" r="-5672" b="0"/>
            </a:stretch>
          </a:blipFill>
        </p:spPr>
      </p:sp>
      <p:sp>
        <p:nvSpPr>
          <p:cNvPr name="TextBox 4" id="4"/>
          <p:cNvSpPr txBox="true"/>
          <p:nvPr/>
        </p:nvSpPr>
        <p:spPr>
          <a:xfrm rot="0">
            <a:off x="625286" y="158626"/>
            <a:ext cx="12063594" cy="1139825"/>
          </a:xfrm>
          <a:prstGeom prst="rect">
            <a:avLst/>
          </a:prstGeom>
        </p:spPr>
        <p:txBody>
          <a:bodyPr anchor="t" rtlCol="false" tIns="0" lIns="0" bIns="0" rIns="0">
            <a:spAutoFit/>
          </a:bodyPr>
          <a:lstStyle/>
          <a:p>
            <a:pPr algn="l">
              <a:lnSpc>
                <a:spcPts val="9099"/>
              </a:lnSpc>
            </a:pPr>
            <a:r>
              <a:rPr lang="en-US" sz="6999" b="true">
                <a:solidFill>
                  <a:srgbClr val="FFFFFF"/>
                </a:solidFill>
                <a:latin typeface="Klein Bold"/>
                <a:ea typeface="Klein Bold"/>
                <a:cs typeface="Klein Bold"/>
                <a:sym typeface="Klein Bold"/>
              </a:rPr>
              <a:t>DASHBOARD</a:t>
            </a:r>
          </a:p>
        </p:txBody>
      </p:sp>
      <p:sp>
        <p:nvSpPr>
          <p:cNvPr name="TextBox 5" id="5"/>
          <p:cNvSpPr txBox="true"/>
          <p:nvPr/>
        </p:nvSpPr>
        <p:spPr>
          <a:xfrm rot="0">
            <a:off x="625286" y="1476909"/>
            <a:ext cx="10891260" cy="547370"/>
          </a:xfrm>
          <a:prstGeom prst="rect">
            <a:avLst/>
          </a:prstGeom>
        </p:spPr>
        <p:txBody>
          <a:bodyPr anchor="t" rtlCol="false" tIns="0" lIns="0" bIns="0" rIns="0">
            <a:spAutoFit/>
          </a:bodyPr>
          <a:lstStyle/>
          <a:p>
            <a:pPr algn="l">
              <a:lnSpc>
                <a:spcPts val="4479"/>
              </a:lnSpc>
            </a:pPr>
            <a:r>
              <a:rPr lang="en-US" sz="3199">
                <a:solidFill>
                  <a:srgbClr val="F4F4F4"/>
                </a:solidFill>
                <a:latin typeface="Helios"/>
                <a:ea typeface="Helios"/>
                <a:cs typeface="Helios"/>
                <a:sym typeface="Helios"/>
              </a:rPr>
              <a:t>Visual representation of all the analysis done on the dataset</a:t>
            </a:r>
          </a:p>
        </p:txBody>
      </p:sp>
      <p:sp>
        <p:nvSpPr>
          <p:cNvPr name="TextBox 6" id="6"/>
          <p:cNvSpPr txBox="true"/>
          <p:nvPr/>
        </p:nvSpPr>
        <p:spPr>
          <a:xfrm rot="0">
            <a:off x="13488285" y="2983606"/>
            <a:ext cx="4799715" cy="6680834"/>
          </a:xfrm>
          <a:prstGeom prst="rect">
            <a:avLst/>
          </a:prstGeom>
        </p:spPr>
        <p:txBody>
          <a:bodyPr anchor="t" rtlCol="false" tIns="0" lIns="0" bIns="0" rIns="0">
            <a:spAutoFit/>
          </a:bodyPr>
          <a:lstStyle/>
          <a:p>
            <a:pPr algn="l">
              <a:lnSpc>
                <a:spcPts val="2940"/>
              </a:lnSpc>
            </a:pPr>
            <a:r>
              <a:rPr lang="en-US" sz="2100">
                <a:solidFill>
                  <a:srgbClr val="2A2E3A"/>
                </a:solidFill>
                <a:latin typeface="Helios"/>
                <a:ea typeface="Helios"/>
                <a:cs typeface="Helios"/>
                <a:sym typeface="Helios"/>
              </a:rPr>
              <a:t>The visuals show the KPIs on the top segment.</a:t>
            </a:r>
          </a:p>
          <a:p>
            <a:pPr algn="l">
              <a:lnSpc>
                <a:spcPts val="2940"/>
              </a:lnSpc>
            </a:pPr>
            <a:r>
              <a:rPr lang="en-US" sz="2100">
                <a:solidFill>
                  <a:srgbClr val="2A2E3A"/>
                </a:solidFill>
                <a:latin typeface="Helios"/>
                <a:ea typeface="Helios"/>
                <a:cs typeface="Helios"/>
                <a:sym typeface="Helios"/>
              </a:rPr>
              <a:t>The first graph shows the top 5 best selling products.</a:t>
            </a:r>
          </a:p>
          <a:p>
            <a:pPr algn="l">
              <a:lnSpc>
                <a:spcPts val="2940"/>
              </a:lnSpc>
            </a:pPr>
            <a:r>
              <a:rPr lang="en-US" sz="2100">
                <a:solidFill>
                  <a:srgbClr val="2A2E3A"/>
                </a:solidFill>
                <a:latin typeface="Helios"/>
                <a:ea typeface="Helios"/>
                <a:cs typeface="Helios"/>
                <a:sym typeface="Helios"/>
              </a:rPr>
              <a:t> Followed by top 10 locations (based on the sales).</a:t>
            </a:r>
          </a:p>
          <a:p>
            <a:pPr algn="l">
              <a:lnSpc>
                <a:spcPts val="2940"/>
              </a:lnSpc>
            </a:pPr>
            <a:r>
              <a:rPr lang="en-US" sz="2100">
                <a:solidFill>
                  <a:srgbClr val="2A2E3A"/>
                </a:solidFill>
                <a:latin typeface="Helios"/>
                <a:ea typeface="Helios"/>
                <a:cs typeface="Helios"/>
                <a:sym typeface="Helios"/>
              </a:rPr>
              <a:t>Then we see the seasonal variations in sales</a:t>
            </a:r>
          </a:p>
          <a:p>
            <a:pPr algn="l">
              <a:lnSpc>
                <a:spcPts val="2940"/>
              </a:lnSpc>
            </a:pPr>
            <a:r>
              <a:rPr lang="en-US" sz="2100">
                <a:solidFill>
                  <a:srgbClr val="2A2E3A"/>
                </a:solidFill>
                <a:latin typeface="Helios"/>
                <a:ea typeface="Helios"/>
                <a:cs typeface="Helios"/>
                <a:sym typeface="Helios"/>
              </a:rPr>
              <a:t>On the bottom left corner we see a pie chart showing average price paid by customers with and without a discount code.</a:t>
            </a:r>
          </a:p>
          <a:p>
            <a:pPr algn="l">
              <a:lnSpc>
                <a:spcPts val="2940"/>
              </a:lnSpc>
            </a:pPr>
            <a:r>
              <a:rPr lang="en-US" sz="2100">
                <a:solidFill>
                  <a:srgbClr val="2A2E3A"/>
                </a:solidFill>
                <a:latin typeface="Helios"/>
                <a:ea typeface="Helios"/>
                <a:cs typeface="Helios"/>
                <a:sym typeface="Helios"/>
              </a:rPr>
              <a:t>We then see the sales distribution across 3 different age groups.</a:t>
            </a:r>
          </a:p>
          <a:p>
            <a:pPr algn="l">
              <a:lnSpc>
                <a:spcPts val="2940"/>
              </a:lnSpc>
            </a:pPr>
            <a:r>
              <a:rPr lang="en-US" sz="2100">
                <a:solidFill>
                  <a:srgbClr val="2A2E3A"/>
                </a:solidFill>
                <a:latin typeface="Helios"/>
                <a:ea typeface="Helios"/>
                <a:cs typeface="Helios"/>
                <a:sym typeface="Helios"/>
              </a:rPr>
              <a:t>Then there is an analysis done on the top 3 shipping method based on sales.</a:t>
            </a:r>
          </a:p>
          <a:p>
            <a:pPr algn="l">
              <a:lnSpc>
                <a:spcPts val="2940"/>
              </a:lnSpc>
            </a:pPr>
            <a:r>
              <a:rPr lang="en-US" sz="2100">
                <a:solidFill>
                  <a:srgbClr val="2A2E3A"/>
                </a:solidFill>
                <a:latin typeface="Helios"/>
                <a:ea typeface="Helios"/>
                <a:cs typeface="Helios"/>
                <a:sym typeface="Helios"/>
              </a:rPr>
              <a:t>And finally we see category wise sales.</a:t>
            </a:r>
          </a:p>
          <a:p>
            <a:pPr algn="l">
              <a:lnSpc>
                <a:spcPts val="294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198186" y="395297"/>
            <a:ext cx="17259300" cy="1139825"/>
          </a:xfrm>
          <a:prstGeom prst="rect">
            <a:avLst/>
          </a:prstGeom>
        </p:spPr>
        <p:txBody>
          <a:bodyPr anchor="t" rtlCol="false" tIns="0" lIns="0" bIns="0" rIns="0">
            <a:spAutoFit/>
          </a:bodyPr>
          <a:lstStyle/>
          <a:p>
            <a:pPr algn="ctr">
              <a:lnSpc>
                <a:spcPts val="9099"/>
              </a:lnSpc>
            </a:pPr>
            <a:r>
              <a:rPr lang="en-US" b="true" sz="6999">
                <a:solidFill>
                  <a:srgbClr val="2A2E3A"/>
                </a:solidFill>
                <a:latin typeface="Klein Bold"/>
                <a:ea typeface="Klein Bold"/>
                <a:cs typeface="Klein Bold"/>
                <a:sym typeface="Klein Bold"/>
              </a:rPr>
              <a:t>Insights and Strategic Solutions</a:t>
            </a:r>
          </a:p>
        </p:txBody>
      </p:sp>
      <p:grpSp>
        <p:nvGrpSpPr>
          <p:cNvPr name="Group 3" id="3"/>
          <p:cNvGrpSpPr/>
          <p:nvPr/>
        </p:nvGrpSpPr>
        <p:grpSpPr>
          <a:xfrm rot="0">
            <a:off x="378403" y="1535122"/>
            <a:ext cx="923912" cy="923912"/>
            <a:chOff x="0" y="0"/>
            <a:chExt cx="1231883" cy="1231883"/>
          </a:xfrm>
        </p:grpSpPr>
        <p:sp>
          <p:nvSpPr>
            <p:cNvPr name="Freeform 4" id="4"/>
            <p:cNvSpPr/>
            <p:nvPr/>
          </p:nvSpPr>
          <p:spPr>
            <a:xfrm flipH="false" flipV="false" rot="0">
              <a:off x="0" y="0"/>
              <a:ext cx="1231883" cy="1231883"/>
            </a:xfrm>
            <a:custGeom>
              <a:avLst/>
              <a:gdLst/>
              <a:ahLst/>
              <a:cxnLst/>
              <a:rect r="r" b="b" t="t" l="l"/>
              <a:pathLst>
                <a:path h="1231883" w="1231883">
                  <a:moveTo>
                    <a:pt x="0" y="0"/>
                  </a:moveTo>
                  <a:lnTo>
                    <a:pt x="1231883" y="0"/>
                  </a:lnTo>
                  <a:lnTo>
                    <a:pt x="1231883" y="1231883"/>
                  </a:lnTo>
                  <a:lnTo>
                    <a:pt x="0" y="1231883"/>
                  </a:lnTo>
                  <a:lnTo>
                    <a:pt x="0" y="0"/>
                  </a:lnTo>
                  <a:close/>
                </a:path>
              </a:pathLst>
            </a:custGeom>
            <a:blipFill>
              <a:blip r:embed="rId2">
                <a:alphaModFix amt="36000"/>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08406" y="100553"/>
              <a:ext cx="1012238" cy="1012238"/>
              <a:chOff x="0" y="0"/>
              <a:chExt cx="812800" cy="812800"/>
            </a:xfrm>
          </p:grpSpPr>
          <p:sp>
            <p:nvSpPr>
              <p:cNvPr name="Freeform 6" id="6"/>
              <p:cNvSpPr/>
              <p:nvPr/>
            </p:nvSpPr>
            <p:spPr>
              <a:xfrm flipH="false" flipV="false" rot="0">
                <a:off x="47130" y="47130"/>
                <a:ext cx="718541" cy="718541"/>
              </a:xfrm>
              <a:custGeom>
                <a:avLst/>
                <a:gdLst/>
                <a:ahLst/>
                <a:cxnLst/>
                <a:rect r="r" b="b" t="t" l="l"/>
                <a:pathLst>
                  <a:path h="718541" w="718541">
                    <a:moveTo>
                      <a:pt x="464537" y="58137"/>
                    </a:moveTo>
                    <a:lnTo>
                      <a:pt x="660403" y="254003"/>
                    </a:lnTo>
                    <a:cubicBezTo>
                      <a:pt x="718540" y="312140"/>
                      <a:pt x="718540" y="406400"/>
                      <a:pt x="660403" y="464537"/>
                    </a:cubicBezTo>
                    <a:lnTo>
                      <a:pt x="464537" y="660403"/>
                    </a:lnTo>
                    <a:cubicBezTo>
                      <a:pt x="406400" y="718540"/>
                      <a:pt x="312140" y="718540"/>
                      <a:pt x="254003" y="660403"/>
                    </a:cubicBezTo>
                    <a:lnTo>
                      <a:pt x="58137" y="464537"/>
                    </a:lnTo>
                    <a:cubicBezTo>
                      <a:pt x="0" y="406400"/>
                      <a:pt x="0" y="312140"/>
                      <a:pt x="58137" y="254003"/>
                    </a:cubicBezTo>
                    <a:lnTo>
                      <a:pt x="254003" y="58137"/>
                    </a:lnTo>
                    <a:cubicBezTo>
                      <a:pt x="312140" y="0"/>
                      <a:pt x="406400" y="0"/>
                      <a:pt x="464537" y="58137"/>
                    </a:cubicBezTo>
                    <a:close/>
                  </a:path>
                </a:pathLst>
              </a:custGeom>
              <a:solidFill>
                <a:srgbClr val="153969"/>
              </a:solidFill>
            </p:spPr>
          </p:sp>
          <p:sp>
            <p:nvSpPr>
              <p:cNvPr name="TextBox 7" id="7"/>
              <p:cNvSpPr txBox="true"/>
              <p:nvPr/>
            </p:nvSpPr>
            <p:spPr>
              <a:xfrm>
                <a:off x="139700" y="73025"/>
                <a:ext cx="533400" cy="600075"/>
              </a:xfrm>
              <a:prstGeom prst="rect">
                <a:avLst/>
              </a:prstGeom>
            </p:spPr>
            <p:txBody>
              <a:bodyPr anchor="ctr" rtlCol="false" tIns="50800" lIns="50800" bIns="50800" rIns="50800"/>
              <a:lstStyle/>
              <a:p>
                <a:pPr algn="ctr">
                  <a:lnSpc>
                    <a:spcPts val="4199"/>
                  </a:lnSpc>
                </a:pPr>
              </a:p>
            </p:txBody>
          </p:sp>
        </p:grpSp>
      </p:grpSp>
      <p:sp>
        <p:nvSpPr>
          <p:cNvPr name="TextBox 8" id="8"/>
          <p:cNvSpPr txBox="true"/>
          <p:nvPr/>
        </p:nvSpPr>
        <p:spPr>
          <a:xfrm rot="0">
            <a:off x="223550" y="2641282"/>
            <a:ext cx="2752453" cy="953053"/>
          </a:xfrm>
          <a:prstGeom prst="rect">
            <a:avLst/>
          </a:prstGeom>
        </p:spPr>
        <p:txBody>
          <a:bodyPr anchor="t" rtlCol="false" tIns="0" lIns="0" bIns="0" rIns="0">
            <a:spAutoFit/>
          </a:bodyPr>
          <a:lstStyle/>
          <a:p>
            <a:pPr algn="l" marL="0" indent="0" lvl="0">
              <a:lnSpc>
                <a:spcPts val="2585"/>
              </a:lnSpc>
              <a:spcBef>
                <a:spcPct val="0"/>
              </a:spcBef>
            </a:pPr>
            <a:r>
              <a:rPr lang="en-US" sz="1846">
                <a:solidFill>
                  <a:srgbClr val="2A2E3A"/>
                </a:solidFill>
                <a:latin typeface="Helios"/>
                <a:ea typeface="Helios"/>
                <a:cs typeface="Helios"/>
                <a:sym typeface="Helios"/>
              </a:rPr>
              <a:t>We see the total sales, i.e, approximately 233k USD</a:t>
            </a:r>
          </a:p>
        </p:txBody>
      </p:sp>
      <p:grpSp>
        <p:nvGrpSpPr>
          <p:cNvPr name="Group 9" id="9"/>
          <p:cNvGrpSpPr/>
          <p:nvPr/>
        </p:nvGrpSpPr>
        <p:grpSpPr>
          <a:xfrm rot="0">
            <a:off x="0" y="9125919"/>
            <a:ext cx="18288000" cy="1161081"/>
            <a:chOff x="0" y="0"/>
            <a:chExt cx="4816593" cy="305799"/>
          </a:xfrm>
        </p:grpSpPr>
        <p:sp>
          <p:nvSpPr>
            <p:cNvPr name="Freeform 10" id="10"/>
            <p:cNvSpPr/>
            <p:nvPr/>
          </p:nvSpPr>
          <p:spPr>
            <a:xfrm flipH="false" flipV="false" rot="0">
              <a:off x="0" y="0"/>
              <a:ext cx="4816592" cy="305799"/>
            </a:xfrm>
            <a:custGeom>
              <a:avLst/>
              <a:gdLst/>
              <a:ahLst/>
              <a:cxnLst/>
              <a:rect r="r" b="b" t="t" l="l"/>
              <a:pathLst>
                <a:path h="305799" w="4816592">
                  <a:moveTo>
                    <a:pt x="0" y="0"/>
                  </a:moveTo>
                  <a:lnTo>
                    <a:pt x="4816592" y="0"/>
                  </a:lnTo>
                  <a:lnTo>
                    <a:pt x="4816592" y="305799"/>
                  </a:lnTo>
                  <a:lnTo>
                    <a:pt x="0" y="305799"/>
                  </a:lnTo>
                  <a:close/>
                </a:path>
              </a:pathLst>
            </a:custGeom>
            <a:solidFill>
              <a:srgbClr val="F4F4F4"/>
            </a:solidFill>
          </p:spPr>
        </p:sp>
        <p:sp>
          <p:nvSpPr>
            <p:cNvPr name="TextBox 11" id="11"/>
            <p:cNvSpPr txBox="true"/>
            <p:nvPr/>
          </p:nvSpPr>
          <p:spPr>
            <a:xfrm>
              <a:off x="0" y="-38100"/>
              <a:ext cx="4816593" cy="343899"/>
            </a:xfrm>
            <a:prstGeom prst="rect">
              <a:avLst/>
            </a:prstGeom>
          </p:spPr>
          <p:txBody>
            <a:bodyPr anchor="ctr" rtlCol="false" tIns="50800" lIns="50800" bIns="50800" rIns="50800"/>
            <a:lstStyle/>
            <a:p>
              <a:pPr algn="ctr">
                <a:lnSpc>
                  <a:spcPts val="2100"/>
                </a:lnSpc>
              </a:pPr>
            </a:p>
          </p:txBody>
        </p:sp>
      </p:grpSp>
      <p:sp>
        <p:nvSpPr>
          <p:cNvPr name="TextBox 12" id="12"/>
          <p:cNvSpPr txBox="true"/>
          <p:nvPr/>
        </p:nvSpPr>
        <p:spPr>
          <a:xfrm rot="0">
            <a:off x="7760399" y="9541677"/>
            <a:ext cx="2767201" cy="300990"/>
          </a:xfrm>
          <a:prstGeom prst="rect">
            <a:avLst/>
          </a:prstGeom>
        </p:spPr>
        <p:txBody>
          <a:bodyPr anchor="t" rtlCol="false" tIns="0" lIns="0" bIns="0" rIns="0">
            <a:spAutoFit/>
          </a:bodyPr>
          <a:lstStyle/>
          <a:p>
            <a:pPr algn="ctr" marL="0" indent="0" lvl="0">
              <a:lnSpc>
                <a:spcPts val="2340"/>
              </a:lnSpc>
              <a:spcBef>
                <a:spcPct val="0"/>
              </a:spcBef>
            </a:pPr>
            <a:r>
              <a:rPr lang="en-US" sz="1800">
                <a:solidFill>
                  <a:srgbClr val="2A2E3A"/>
                </a:solidFill>
                <a:latin typeface="Helios"/>
                <a:ea typeface="Helios"/>
                <a:cs typeface="Helios"/>
                <a:sym typeface="Helios"/>
              </a:rPr>
              <a:t>Back to Agenda</a:t>
            </a:r>
          </a:p>
        </p:txBody>
      </p:sp>
      <p:grpSp>
        <p:nvGrpSpPr>
          <p:cNvPr name="Group 13" id="13"/>
          <p:cNvGrpSpPr/>
          <p:nvPr/>
        </p:nvGrpSpPr>
        <p:grpSpPr>
          <a:xfrm rot="0">
            <a:off x="2976003" y="1535122"/>
            <a:ext cx="923912" cy="923912"/>
            <a:chOff x="0" y="0"/>
            <a:chExt cx="1231883" cy="1231883"/>
          </a:xfrm>
        </p:grpSpPr>
        <p:sp>
          <p:nvSpPr>
            <p:cNvPr name="Freeform 14" id="14"/>
            <p:cNvSpPr/>
            <p:nvPr/>
          </p:nvSpPr>
          <p:spPr>
            <a:xfrm flipH="false" flipV="false" rot="0">
              <a:off x="0" y="0"/>
              <a:ext cx="1231883" cy="1231883"/>
            </a:xfrm>
            <a:custGeom>
              <a:avLst/>
              <a:gdLst/>
              <a:ahLst/>
              <a:cxnLst/>
              <a:rect r="r" b="b" t="t" l="l"/>
              <a:pathLst>
                <a:path h="1231883" w="1231883">
                  <a:moveTo>
                    <a:pt x="0" y="0"/>
                  </a:moveTo>
                  <a:lnTo>
                    <a:pt x="1231883" y="0"/>
                  </a:lnTo>
                  <a:lnTo>
                    <a:pt x="1231883" y="1231883"/>
                  </a:lnTo>
                  <a:lnTo>
                    <a:pt x="0" y="1231883"/>
                  </a:lnTo>
                  <a:lnTo>
                    <a:pt x="0" y="0"/>
                  </a:lnTo>
                  <a:close/>
                </a:path>
              </a:pathLst>
            </a:custGeom>
            <a:blipFill>
              <a:blip r:embed="rId2">
                <a:alphaModFix amt="36000"/>
                <a:extLst>
                  <a:ext uri="{96DAC541-7B7A-43D3-8B79-37D633B846F1}">
                    <asvg:svgBlip xmlns:asvg="http://schemas.microsoft.com/office/drawing/2016/SVG/main" r:embed="rId3"/>
                  </a:ext>
                </a:extLst>
              </a:blip>
              <a:stretch>
                <a:fillRect l="0" t="0" r="0" b="0"/>
              </a:stretch>
            </a:blipFill>
          </p:spPr>
        </p:sp>
        <p:grpSp>
          <p:nvGrpSpPr>
            <p:cNvPr name="Group 15" id="15"/>
            <p:cNvGrpSpPr/>
            <p:nvPr/>
          </p:nvGrpSpPr>
          <p:grpSpPr>
            <a:xfrm rot="0">
              <a:off x="108406" y="100553"/>
              <a:ext cx="1012238" cy="1012238"/>
              <a:chOff x="0" y="0"/>
              <a:chExt cx="812800" cy="812800"/>
            </a:xfrm>
          </p:grpSpPr>
          <p:sp>
            <p:nvSpPr>
              <p:cNvPr name="Freeform 16" id="16"/>
              <p:cNvSpPr/>
              <p:nvPr/>
            </p:nvSpPr>
            <p:spPr>
              <a:xfrm flipH="false" flipV="false" rot="0">
                <a:off x="47130" y="47130"/>
                <a:ext cx="718541" cy="718541"/>
              </a:xfrm>
              <a:custGeom>
                <a:avLst/>
                <a:gdLst/>
                <a:ahLst/>
                <a:cxnLst/>
                <a:rect r="r" b="b" t="t" l="l"/>
                <a:pathLst>
                  <a:path h="718541" w="718541">
                    <a:moveTo>
                      <a:pt x="464537" y="58137"/>
                    </a:moveTo>
                    <a:lnTo>
                      <a:pt x="660403" y="254003"/>
                    </a:lnTo>
                    <a:cubicBezTo>
                      <a:pt x="718540" y="312140"/>
                      <a:pt x="718540" y="406400"/>
                      <a:pt x="660403" y="464537"/>
                    </a:cubicBezTo>
                    <a:lnTo>
                      <a:pt x="464537" y="660403"/>
                    </a:lnTo>
                    <a:cubicBezTo>
                      <a:pt x="406400" y="718540"/>
                      <a:pt x="312140" y="718540"/>
                      <a:pt x="254003" y="660403"/>
                    </a:cubicBezTo>
                    <a:lnTo>
                      <a:pt x="58137" y="464537"/>
                    </a:lnTo>
                    <a:cubicBezTo>
                      <a:pt x="0" y="406400"/>
                      <a:pt x="0" y="312140"/>
                      <a:pt x="58137" y="254003"/>
                    </a:cubicBezTo>
                    <a:lnTo>
                      <a:pt x="254003" y="58137"/>
                    </a:lnTo>
                    <a:cubicBezTo>
                      <a:pt x="312140" y="0"/>
                      <a:pt x="406400" y="0"/>
                      <a:pt x="464537" y="58137"/>
                    </a:cubicBezTo>
                    <a:close/>
                  </a:path>
                </a:pathLst>
              </a:custGeom>
              <a:solidFill>
                <a:srgbClr val="153969"/>
              </a:solidFill>
            </p:spPr>
          </p:sp>
          <p:sp>
            <p:nvSpPr>
              <p:cNvPr name="TextBox 17" id="17"/>
              <p:cNvSpPr txBox="true"/>
              <p:nvPr/>
            </p:nvSpPr>
            <p:spPr>
              <a:xfrm>
                <a:off x="139700" y="73025"/>
                <a:ext cx="533400" cy="600075"/>
              </a:xfrm>
              <a:prstGeom prst="rect">
                <a:avLst/>
              </a:prstGeom>
            </p:spPr>
            <p:txBody>
              <a:bodyPr anchor="ctr" rtlCol="false" tIns="50800" lIns="50800" bIns="50800" rIns="50800"/>
              <a:lstStyle/>
              <a:p>
                <a:pPr algn="ctr">
                  <a:lnSpc>
                    <a:spcPts val="4199"/>
                  </a:lnSpc>
                </a:pPr>
              </a:p>
            </p:txBody>
          </p:sp>
        </p:grpSp>
      </p:grpSp>
      <p:grpSp>
        <p:nvGrpSpPr>
          <p:cNvPr name="Group 18" id="18"/>
          <p:cNvGrpSpPr/>
          <p:nvPr/>
        </p:nvGrpSpPr>
        <p:grpSpPr>
          <a:xfrm rot="0">
            <a:off x="12206614" y="1535122"/>
            <a:ext cx="923912" cy="923912"/>
            <a:chOff x="0" y="0"/>
            <a:chExt cx="1231883" cy="1231883"/>
          </a:xfrm>
        </p:grpSpPr>
        <p:sp>
          <p:nvSpPr>
            <p:cNvPr name="Freeform 19" id="19"/>
            <p:cNvSpPr/>
            <p:nvPr/>
          </p:nvSpPr>
          <p:spPr>
            <a:xfrm flipH="false" flipV="false" rot="0">
              <a:off x="0" y="0"/>
              <a:ext cx="1231883" cy="1231883"/>
            </a:xfrm>
            <a:custGeom>
              <a:avLst/>
              <a:gdLst/>
              <a:ahLst/>
              <a:cxnLst/>
              <a:rect r="r" b="b" t="t" l="l"/>
              <a:pathLst>
                <a:path h="1231883" w="1231883">
                  <a:moveTo>
                    <a:pt x="0" y="0"/>
                  </a:moveTo>
                  <a:lnTo>
                    <a:pt x="1231883" y="0"/>
                  </a:lnTo>
                  <a:lnTo>
                    <a:pt x="1231883" y="1231883"/>
                  </a:lnTo>
                  <a:lnTo>
                    <a:pt x="0" y="1231883"/>
                  </a:lnTo>
                  <a:lnTo>
                    <a:pt x="0" y="0"/>
                  </a:lnTo>
                  <a:close/>
                </a:path>
              </a:pathLst>
            </a:custGeom>
            <a:blipFill>
              <a:blip r:embed="rId2">
                <a:alphaModFix amt="36000"/>
                <a:extLst>
                  <a:ext uri="{96DAC541-7B7A-43D3-8B79-37D633B846F1}">
                    <asvg:svgBlip xmlns:asvg="http://schemas.microsoft.com/office/drawing/2016/SVG/main" r:embed="rId3"/>
                  </a:ext>
                </a:extLst>
              </a:blip>
              <a:stretch>
                <a:fillRect l="0" t="0" r="0" b="0"/>
              </a:stretch>
            </a:blipFill>
          </p:spPr>
        </p:sp>
        <p:grpSp>
          <p:nvGrpSpPr>
            <p:cNvPr name="Group 20" id="20"/>
            <p:cNvGrpSpPr/>
            <p:nvPr/>
          </p:nvGrpSpPr>
          <p:grpSpPr>
            <a:xfrm rot="0">
              <a:off x="108406" y="100553"/>
              <a:ext cx="1012238" cy="1012238"/>
              <a:chOff x="0" y="0"/>
              <a:chExt cx="812800" cy="812800"/>
            </a:xfrm>
          </p:grpSpPr>
          <p:sp>
            <p:nvSpPr>
              <p:cNvPr name="Freeform 21" id="21"/>
              <p:cNvSpPr/>
              <p:nvPr/>
            </p:nvSpPr>
            <p:spPr>
              <a:xfrm flipH="false" flipV="false" rot="0">
                <a:off x="47130" y="47130"/>
                <a:ext cx="718541" cy="718541"/>
              </a:xfrm>
              <a:custGeom>
                <a:avLst/>
                <a:gdLst/>
                <a:ahLst/>
                <a:cxnLst/>
                <a:rect r="r" b="b" t="t" l="l"/>
                <a:pathLst>
                  <a:path h="718541" w="718541">
                    <a:moveTo>
                      <a:pt x="464537" y="58137"/>
                    </a:moveTo>
                    <a:lnTo>
                      <a:pt x="660403" y="254003"/>
                    </a:lnTo>
                    <a:cubicBezTo>
                      <a:pt x="718540" y="312140"/>
                      <a:pt x="718540" y="406400"/>
                      <a:pt x="660403" y="464537"/>
                    </a:cubicBezTo>
                    <a:lnTo>
                      <a:pt x="464537" y="660403"/>
                    </a:lnTo>
                    <a:cubicBezTo>
                      <a:pt x="406400" y="718540"/>
                      <a:pt x="312140" y="718540"/>
                      <a:pt x="254003" y="660403"/>
                    </a:cubicBezTo>
                    <a:lnTo>
                      <a:pt x="58137" y="464537"/>
                    </a:lnTo>
                    <a:cubicBezTo>
                      <a:pt x="0" y="406400"/>
                      <a:pt x="0" y="312140"/>
                      <a:pt x="58137" y="254003"/>
                    </a:cubicBezTo>
                    <a:lnTo>
                      <a:pt x="254003" y="58137"/>
                    </a:lnTo>
                    <a:cubicBezTo>
                      <a:pt x="312140" y="0"/>
                      <a:pt x="406400" y="0"/>
                      <a:pt x="464537" y="58137"/>
                    </a:cubicBezTo>
                    <a:close/>
                  </a:path>
                </a:pathLst>
              </a:custGeom>
              <a:solidFill>
                <a:srgbClr val="153969"/>
              </a:solidFill>
            </p:spPr>
          </p:sp>
          <p:sp>
            <p:nvSpPr>
              <p:cNvPr name="TextBox 22" id="22"/>
              <p:cNvSpPr txBox="true"/>
              <p:nvPr/>
            </p:nvSpPr>
            <p:spPr>
              <a:xfrm>
                <a:off x="139700" y="73025"/>
                <a:ext cx="533400" cy="600075"/>
              </a:xfrm>
              <a:prstGeom prst="rect">
                <a:avLst/>
              </a:prstGeom>
            </p:spPr>
            <p:txBody>
              <a:bodyPr anchor="ctr" rtlCol="false" tIns="50800" lIns="50800" bIns="50800" rIns="50800"/>
              <a:lstStyle/>
              <a:p>
                <a:pPr algn="ctr">
                  <a:lnSpc>
                    <a:spcPts val="4199"/>
                  </a:lnSpc>
                </a:pPr>
              </a:p>
            </p:txBody>
          </p:sp>
        </p:grpSp>
      </p:grpSp>
      <p:grpSp>
        <p:nvGrpSpPr>
          <p:cNvPr name="Group 23" id="23"/>
          <p:cNvGrpSpPr/>
          <p:nvPr/>
        </p:nvGrpSpPr>
        <p:grpSpPr>
          <a:xfrm rot="0">
            <a:off x="6128505" y="5186060"/>
            <a:ext cx="978423" cy="978423"/>
            <a:chOff x="0" y="0"/>
            <a:chExt cx="1304564" cy="1304564"/>
          </a:xfrm>
        </p:grpSpPr>
        <p:sp>
          <p:nvSpPr>
            <p:cNvPr name="Freeform 24" id="24"/>
            <p:cNvSpPr/>
            <p:nvPr/>
          </p:nvSpPr>
          <p:spPr>
            <a:xfrm flipH="false" flipV="false" rot="0">
              <a:off x="0" y="0"/>
              <a:ext cx="1304564" cy="1304564"/>
            </a:xfrm>
            <a:custGeom>
              <a:avLst/>
              <a:gdLst/>
              <a:ahLst/>
              <a:cxnLst/>
              <a:rect r="r" b="b" t="t" l="l"/>
              <a:pathLst>
                <a:path h="1304564" w="1304564">
                  <a:moveTo>
                    <a:pt x="0" y="0"/>
                  </a:moveTo>
                  <a:lnTo>
                    <a:pt x="1304564" y="0"/>
                  </a:lnTo>
                  <a:lnTo>
                    <a:pt x="1304564" y="1304564"/>
                  </a:lnTo>
                  <a:lnTo>
                    <a:pt x="0" y="1304564"/>
                  </a:lnTo>
                  <a:lnTo>
                    <a:pt x="0" y="0"/>
                  </a:lnTo>
                  <a:close/>
                </a:path>
              </a:pathLst>
            </a:custGeom>
            <a:blipFill>
              <a:blip r:embed="rId2">
                <a:alphaModFix amt="36000"/>
                <a:extLst>
                  <a:ext uri="{96DAC541-7B7A-43D3-8B79-37D633B846F1}">
                    <asvg:svgBlip xmlns:asvg="http://schemas.microsoft.com/office/drawing/2016/SVG/main" r:embed="rId3"/>
                  </a:ext>
                </a:extLst>
              </a:blip>
              <a:stretch>
                <a:fillRect l="0" t="0" r="0" b="0"/>
              </a:stretch>
            </a:blipFill>
          </p:spPr>
        </p:sp>
        <p:grpSp>
          <p:nvGrpSpPr>
            <p:cNvPr name="Group 25" id="25"/>
            <p:cNvGrpSpPr/>
            <p:nvPr/>
          </p:nvGrpSpPr>
          <p:grpSpPr>
            <a:xfrm rot="0">
              <a:off x="114802" y="106485"/>
              <a:ext cx="1071960" cy="1071960"/>
              <a:chOff x="0" y="0"/>
              <a:chExt cx="812800" cy="812800"/>
            </a:xfrm>
          </p:grpSpPr>
          <p:sp>
            <p:nvSpPr>
              <p:cNvPr name="Freeform 26" id="26"/>
              <p:cNvSpPr/>
              <p:nvPr/>
            </p:nvSpPr>
            <p:spPr>
              <a:xfrm flipH="false" flipV="false" rot="0">
                <a:off x="47130" y="47130"/>
                <a:ext cx="718541" cy="718541"/>
              </a:xfrm>
              <a:custGeom>
                <a:avLst/>
                <a:gdLst/>
                <a:ahLst/>
                <a:cxnLst/>
                <a:rect r="r" b="b" t="t" l="l"/>
                <a:pathLst>
                  <a:path h="718541" w="718541">
                    <a:moveTo>
                      <a:pt x="464537" y="58137"/>
                    </a:moveTo>
                    <a:lnTo>
                      <a:pt x="660403" y="254003"/>
                    </a:lnTo>
                    <a:cubicBezTo>
                      <a:pt x="718540" y="312140"/>
                      <a:pt x="718540" y="406400"/>
                      <a:pt x="660403" y="464537"/>
                    </a:cubicBezTo>
                    <a:lnTo>
                      <a:pt x="464537" y="660403"/>
                    </a:lnTo>
                    <a:cubicBezTo>
                      <a:pt x="406400" y="718540"/>
                      <a:pt x="312140" y="718540"/>
                      <a:pt x="254003" y="660403"/>
                    </a:cubicBezTo>
                    <a:lnTo>
                      <a:pt x="58137" y="464537"/>
                    </a:lnTo>
                    <a:cubicBezTo>
                      <a:pt x="0" y="406400"/>
                      <a:pt x="0" y="312140"/>
                      <a:pt x="58137" y="254003"/>
                    </a:cubicBezTo>
                    <a:lnTo>
                      <a:pt x="254003" y="58137"/>
                    </a:lnTo>
                    <a:cubicBezTo>
                      <a:pt x="312140" y="0"/>
                      <a:pt x="406400" y="0"/>
                      <a:pt x="464537" y="58137"/>
                    </a:cubicBezTo>
                    <a:close/>
                  </a:path>
                </a:pathLst>
              </a:custGeom>
              <a:solidFill>
                <a:srgbClr val="153969"/>
              </a:solidFill>
            </p:spPr>
          </p:sp>
          <p:sp>
            <p:nvSpPr>
              <p:cNvPr name="TextBox 27" id="27"/>
              <p:cNvSpPr txBox="true"/>
              <p:nvPr/>
            </p:nvSpPr>
            <p:spPr>
              <a:xfrm>
                <a:off x="139700" y="73025"/>
                <a:ext cx="533400" cy="600075"/>
              </a:xfrm>
              <a:prstGeom prst="rect">
                <a:avLst/>
              </a:prstGeom>
            </p:spPr>
            <p:txBody>
              <a:bodyPr anchor="ctr" rtlCol="false" tIns="50800" lIns="50800" bIns="50800" rIns="50800"/>
              <a:lstStyle/>
              <a:p>
                <a:pPr algn="ctr">
                  <a:lnSpc>
                    <a:spcPts val="4199"/>
                  </a:lnSpc>
                </a:pPr>
              </a:p>
            </p:txBody>
          </p:sp>
        </p:grpSp>
      </p:grpSp>
      <p:grpSp>
        <p:nvGrpSpPr>
          <p:cNvPr name="Group 28" id="28"/>
          <p:cNvGrpSpPr/>
          <p:nvPr/>
        </p:nvGrpSpPr>
        <p:grpSpPr>
          <a:xfrm rot="0">
            <a:off x="9327360" y="1535122"/>
            <a:ext cx="923912" cy="923912"/>
            <a:chOff x="0" y="0"/>
            <a:chExt cx="1231883" cy="1231883"/>
          </a:xfrm>
        </p:grpSpPr>
        <p:sp>
          <p:nvSpPr>
            <p:cNvPr name="Freeform 29" id="29"/>
            <p:cNvSpPr/>
            <p:nvPr/>
          </p:nvSpPr>
          <p:spPr>
            <a:xfrm flipH="false" flipV="false" rot="0">
              <a:off x="0" y="0"/>
              <a:ext cx="1231883" cy="1231883"/>
            </a:xfrm>
            <a:custGeom>
              <a:avLst/>
              <a:gdLst/>
              <a:ahLst/>
              <a:cxnLst/>
              <a:rect r="r" b="b" t="t" l="l"/>
              <a:pathLst>
                <a:path h="1231883" w="1231883">
                  <a:moveTo>
                    <a:pt x="0" y="0"/>
                  </a:moveTo>
                  <a:lnTo>
                    <a:pt x="1231883" y="0"/>
                  </a:lnTo>
                  <a:lnTo>
                    <a:pt x="1231883" y="1231883"/>
                  </a:lnTo>
                  <a:lnTo>
                    <a:pt x="0" y="1231883"/>
                  </a:lnTo>
                  <a:lnTo>
                    <a:pt x="0" y="0"/>
                  </a:lnTo>
                  <a:close/>
                </a:path>
              </a:pathLst>
            </a:custGeom>
            <a:blipFill>
              <a:blip r:embed="rId2">
                <a:alphaModFix amt="36000"/>
                <a:extLst>
                  <a:ext uri="{96DAC541-7B7A-43D3-8B79-37D633B846F1}">
                    <asvg:svgBlip xmlns:asvg="http://schemas.microsoft.com/office/drawing/2016/SVG/main" r:embed="rId3"/>
                  </a:ext>
                </a:extLst>
              </a:blip>
              <a:stretch>
                <a:fillRect l="0" t="0" r="0" b="0"/>
              </a:stretch>
            </a:blipFill>
          </p:spPr>
        </p:sp>
        <p:grpSp>
          <p:nvGrpSpPr>
            <p:cNvPr name="Group 30" id="30"/>
            <p:cNvGrpSpPr/>
            <p:nvPr/>
          </p:nvGrpSpPr>
          <p:grpSpPr>
            <a:xfrm rot="0">
              <a:off x="108406" y="100553"/>
              <a:ext cx="1012238" cy="1012238"/>
              <a:chOff x="0" y="0"/>
              <a:chExt cx="812800" cy="812800"/>
            </a:xfrm>
          </p:grpSpPr>
          <p:sp>
            <p:nvSpPr>
              <p:cNvPr name="Freeform 31" id="31"/>
              <p:cNvSpPr/>
              <p:nvPr/>
            </p:nvSpPr>
            <p:spPr>
              <a:xfrm flipH="false" flipV="false" rot="0">
                <a:off x="47130" y="47130"/>
                <a:ext cx="718541" cy="718541"/>
              </a:xfrm>
              <a:custGeom>
                <a:avLst/>
                <a:gdLst/>
                <a:ahLst/>
                <a:cxnLst/>
                <a:rect r="r" b="b" t="t" l="l"/>
                <a:pathLst>
                  <a:path h="718541" w="718541">
                    <a:moveTo>
                      <a:pt x="464537" y="58137"/>
                    </a:moveTo>
                    <a:lnTo>
                      <a:pt x="660403" y="254003"/>
                    </a:lnTo>
                    <a:cubicBezTo>
                      <a:pt x="718540" y="312140"/>
                      <a:pt x="718540" y="406400"/>
                      <a:pt x="660403" y="464537"/>
                    </a:cubicBezTo>
                    <a:lnTo>
                      <a:pt x="464537" y="660403"/>
                    </a:lnTo>
                    <a:cubicBezTo>
                      <a:pt x="406400" y="718540"/>
                      <a:pt x="312140" y="718540"/>
                      <a:pt x="254003" y="660403"/>
                    </a:cubicBezTo>
                    <a:lnTo>
                      <a:pt x="58137" y="464537"/>
                    </a:lnTo>
                    <a:cubicBezTo>
                      <a:pt x="0" y="406400"/>
                      <a:pt x="0" y="312140"/>
                      <a:pt x="58137" y="254003"/>
                    </a:cubicBezTo>
                    <a:lnTo>
                      <a:pt x="254003" y="58137"/>
                    </a:lnTo>
                    <a:cubicBezTo>
                      <a:pt x="312140" y="0"/>
                      <a:pt x="406400" y="0"/>
                      <a:pt x="464537" y="58137"/>
                    </a:cubicBezTo>
                    <a:close/>
                  </a:path>
                </a:pathLst>
              </a:custGeom>
              <a:solidFill>
                <a:srgbClr val="153969"/>
              </a:solidFill>
            </p:spPr>
          </p:sp>
          <p:sp>
            <p:nvSpPr>
              <p:cNvPr name="TextBox 32" id="32"/>
              <p:cNvSpPr txBox="true"/>
              <p:nvPr/>
            </p:nvSpPr>
            <p:spPr>
              <a:xfrm>
                <a:off x="139700" y="73025"/>
                <a:ext cx="533400" cy="600075"/>
              </a:xfrm>
              <a:prstGeom prst="rect">
                <a:avLst/>
              </a:prstGeom>
            </p:spPr>
            <p:txBody>
              <a:bodyPr anchor="ctr" rtlCol="false" tIns="50800" lIns="50800" bIns="50800" rIns="50800"/>
              <a:lstStyle/>
              <a:p>
                <a:pPr algn="ctr">
                  <a:lnSpc>
                    <a:spcPts val="4199"/>
                  </a:lnSpc>
                </a:pPr>
              </a:p>
            </p:txBody>
          </p:sp>
        </p:grpSp>
      </p:grpSp>
      <p:grpSp>
        <p:nvGrpSpPr>
          <p:cNvPr name="Group 33" id="33"/>
          <p:cNvGrpSpPr/>
          <p:nvPr/>
        </p:nvGrpSpPr>
        <p:grpSpPr>
          <a:xfrm rot="0">
            <a:off x="15273652" y="1535122"/>
            <a:ext cx="923912" cy="923912"/>
            <a:chOff x="0" y="0"/>
            <a:chExt cx="1231883" cy="1231883"/>
          </a:xfrm>
        </p:grpSpPr>
        <p:sp>
          <p:nvSpPr>
            <p:cNvPr name="Freeform 34" id="34"/>
            <p:cNvSpPr/>
            <p:nvPr/>
          </p:nvSpPr>
          <p:spPr>
            <a:xfrm flipH="false" flipV="false" rot="0">
              <a:off x="0" y="0"/>
              <a:ext cx="1231883" cy="1231883"/>
            </a:xfrm>
            <a:custGeom>
              <a:avLst/>
              <a:gdLst/>
              <a:ahLst/>
              <a:cxnLst/>
              <a:rect r="r" b="b" t="t" l="l"/>
              <a:pathLst>
                <a:path h="1231883" w="1231883">
                  <a:moveTo>
                    <a:pt x="0" y="0"/>
                  </a:moveTo>
                  <a:lnTo>
                    <a:pt x="1231883" y="0"/>
                  </a:lnTo>
                  <a:lnTo>
                    <a:pt x="1231883" y="1231883"/>
                  </a:lnTo>
                  <a:lnTo>
                    <a:pt x="0" y="1231883"/>
                  </a:lnTo>
                  <a:lnTo>
                    <a:pt x="0" y="0"/>
                  </a:lnTo>
                  <a:close/>
                </a:path>
              </a:pathLst>
            </a:custGeom>
            <a:blipFill>
              <a:blip r:embed="rId2">
                <a:alphaModFix amt="36000"/>
                <a:extLst>
                  <a:ext uri="{96DAC541-7B7A-43D3-8B79-37D633B846F1}">
                    <asvg:svgBlip xmlns:asvg="http://schemas.microsoft.com/office/drawing/2016/SVG/main" r:embed="rId3"/>
                  </a:ext>
                </a:extLst>
              </a:blip>
              <a:stretch>
                <a:fillRect l="0" t="0" r="0" b="0"/>
              </a:stretch>
            </a:blipFill>
          </p:spPr>
        </p:sp>
        <p:grpSp>
          <p:nvGrpSpPr>
            <p:cNvPr name="Group 35" id="35"/>
            <p:cNvGrpSpPr/>
            <p:nvPr/>
          </p:nvGrpSpPr>
          <p:grpSpPr>
            <a:xfrm rot="0">
              <a:off x="108406" y="100553"/>
              <a:ext cx="1012238" cy="1012238"/>
              <a:chOff x="0" y="0"/>
              <a:chExt cx="812800" cy="812800"/>
            </a:xfrm>
          </p:grpSpPr>
          <p:sp>
            <p:nvSpPr>
              <p:cNvPr name="Freeform 36" id="36"/>
              <p:cNvSpPr/>
              <p:nvPr/>
            </p:nvSpPr>
            <p:spPr>
              <a:xfrm flipH="false" flipV="false" rot="0">
                <a:off x="47130" y="47130"/>
                <a:ext cx="718541" cy="718541"/>
              </a:xfrm>
              <a:custGeom>
                <a:avLst/>
                <a:gdLst/>
                <a:ahLst/>
                <a:cxnLst/>
                <a:rect r="r" b="b" t="t" l="l"/>
                <a:pathLst>
                  <a:path h="718541" w="718541">
                    <a:moveTo>
                      <a:pt x="464537" y="58137"/>
                    </a:moveTo>
                    <a:lnTo>
                      <a:pt x="660403" y="254003"/>
                    </a:lnTo>
                    <a:cubicBezTo>
                      <a:pt x="718540" y="312140"/>
                      <a:pt x="718540" y="406400"/>
                      <a:pt x="660403" y="464537"/>
                    </a:cubicBezTo>
                    <a:lnTo>
                      <a:pt x="464537" y="660403"/>
                    </a:lnTo>
                    <a:cubicBezTo>
                      <a:pt x="406400" y="718540"/>
                      <a:pt x="312140" y="718540"/>
                      <a:pt x="254003" y="660403"/>
                    </a:cubicBezTo>
                    <a:lnTo>
                      <a:pt x="58137" y="464537"/>
                    </a:lnTo>
                    <a:cubicBezTo>
                      <a:pt x="0" y="406400"/>
                      <a:pt x="0" y="312140"/>
                      <a:pt x="58137" y="254003"/>
                    </a:cubicBezTo>
                    <a:lnTo>
                      <a:pt x="254003" y="58137"/>
                    </a:lnTo>
                    <a:cubicBezTo>
                      <a:pt x="312140" y="0"/>
                      <a:pt x="406400" y="0"/>
                      <a:pt x="464537" y="58137"/>
                    </a:cubicBezTo>
                    <a:close/>
                  </a:path>
                </a:pathLst>
              </a:custGeom>
              <a:solidFill>
                <a:srgbClr val="153969"/>
              </a:solidFill>
            </p:spPr>
          </p:sp>
          <p:sp>
            <p:nvSpPr>
              <p:cNvPr name="TextBox 37" id="37"/>
              <p:cNvSpPr txBox="true"/>
              <p:nvPr/>
            </p:nvSpPr>
            <p:spPr>
              <a:xfrm>
                <a:off x="139700" y="73025"/>
                <a:ext cx="533400" cy="600075"/>
              </a:xfrm>
              <a:prstGeom prst="rect">
                <a:avLst/>
              </a:prstGeom>
            </p:spPr>
            <p:txBody>
              <a:bodyPr anchor="ctr" rtlCol="false" tIns="50800" lIns="50800" bIns="50800" rIns="50800"/>
              <a:lstStyle/>
              <a:p>
                <a:pPr algn="ctr">
                  <a:lnSpc>
                    <a:spcPts val="4199"/>
                  </a:lnSpc>
                </a:pPr>
              </a:p>
            </p:txBody>
          </p:sp>
        </p:grpSp>
      </p:grpSp>
      <p:grpSp>
        <p:nvGrpSpPr>
          <p:cNvPr name="Group 38" id="38"/>
          <p:cNvGrpSpPr/>
          <p:nvPr/>
        </p:nvGrpSpPr>
        <p:grpSpPr>
          <a:xfrm rot="0">
            <a:off x="6257913" y="1535122"/>
            <a:ext cx="923912" cy="923912"/>
            <a:chOff x="0" y="0"/>
            <a:chExt cx="1231883" cy="1231883"/>
          </a:xfrm>
        </p:grpSpPr>
        <p:sp>
          <p:nvSpPr>
            <p:cNvPr name="Freeform 39" id="39"/>
            <p:cNvSpPr/>
            <p:nvPr/>
          </p:nvSpPr>
          <p:spPr>
            <a:xfrm flipH="false" flipV="false" rot="0">
              <a:off x="0" y="0"/>
              <a:ext cx="1231883" cy="1231883"/>
            </a:xfrm>
            <a:custGeom>
              <a:avLst/>
              <a:gdLst/>
              <a:ahLst/>
              <a:cxnLst/>
              <a:rect r="r" b="b" t="t" l="l"/>
              <a:pathLst>
                <a:path h="1231883" w="1231883">
                  <a:moveTo>
                    <a:pt x="0" y="0"/>
                  </a:moveTo>
                  <a:lnTo>
                    <a:pt x="1231883" y="0"/>
                  </a:lnTo>
                  <a:lnTo>
                    <a:pt x="1231883" y="1231883"/>
                  </a:lnTo>
                  <a:lnTo>
                    <a:pt x="0" y="1231883"/>
                  </a:lnTo>
                  <a:lnTo>
                    <a:pt x="0" y="0"/>
                  </a:lnTo>
                  <a:close/>
                </a:path>
              </a:pathLst>
            </a:custGeom>
            <a:blipFill>
              <a:blip r:embed="rId2">
                <a:alphaModFix amt="36000"/>
                <a:extLst>
                  <a:ext uri="{96DAC541-7B7A-43D3-8B79-37D633B846F1}">
                    <asvg:svgBlip xmlns:asvg="http://schemas.microsoft.com/office/drawing/2016/SVG/main" r:embed="rId3"/>
                  </a:ext>
                </a:extLst>
              </a:blip>
              <a:stretch>
                <a:fillRect l="0" t="0" r="0" b="0"/>
              </a:stretch>
            </a:blipFill>
          </p:spPr>
        </p:sp>
        <p:grpSp>
          <p:nvGrpSpPr>
            <p:cNvPr name="Group 40" id="40"/>
            <p:cNvGrpSpPr/>
            <p:nvPr/>
          </p:nvGrpSpPr>
          <p:grpSpPr>
            <a:xfrm rot="0">
              <a:off x="108406" y="100553"/>
              <a:ext cx="1012238" cy="1012238"/>
              <a:chOff x="0" y="0"/>
              <a:chExt cx="812800" cy="812800"/>
            </a:xfrm>
          </p:grpSpPr>
          <p:sp>
            <p:nvSpPr>
              <p:cNvPr name="Freeform 41" id="41"/>
              <p:cNvSpPr/>
              <p:nvPr/>
            </p:nvSpPr>
            <p:spPr>
              <a:xfrm flipH="false" flipV="false" rot="0">
                <a:off x="47130" y="47130"/>
                <a:ext cx="718541" cy="718541"/>
              </a:xfrm>
              <a:custGeom>
                <a:avLst/>
                <a:gdLst/>
                <a:ahLst/>
                <a:cxnLst/>
                <a:rect r="r" b="b" t="t" l="l"/>
                <a:pathLst>
                  <a:path h="718541" w="718541">
                    <a:moveTo>
                      <a:pt x="464537" y="58137"/>
                    </a:moveTo>
                    <a:lnTo>
                      <a:pt x="660403" y="254003"/>
                    </a:lnTo>
                    <a:cubicBezTo>
                      <a:pt x="718540" y="312140"/>
                      <a:pt x="718540" y="406400"/>
                      <a:pt x="660403" y="464537"/>
                    </a:cubicBezTo>
                    <a:lnTo>
                      <a:pt x="464537" y="660403"/>
                    </a:lnTo>
                    <a:cubicBezTo>
                      <a:pt x="406400" y="718540"/>
                      <a:pt x="312140" y="718540"/>
                      <a:pt x="254003" y="660403"/>
                    </a:cubicBezTo>
                    <a:lnTo>
                      <a:pt x="58137" y="464537"/>
                    </a:lnTo>
                    <a:cubicBezTo>
                      <a:pt x="0" y="406400"/>
                      <a:pt x="0" y="312140"/>
                      <a:pt x="58137" y="254003"/>
                    </a:cubicBezTo>
                    <a:lnTo>
                      <a:pt x="254003" y="58137"/>
                    </a:lnTo>
                    <a:cubicBezTo>
                      <a:pt x="312140" y="0"/>
                      <a:pt x="406400" y="0"/>
                      <a:pt x="464537" y="58137"/>
                    </a:cubicBezTo>
                    <a:close/>
                  </a:path>
                </a:pathLst>
              </a:custGeom>
              <a:solidFill>
                <a:srgbClr val="153969"/>
              </a:solidFill>
            </p:spPr>
          </p:sp>
          <p:sp>
            <p:nvSpPr>
              <p:cNvPr name="TextBox 42" id="42"/>
              <p:cNvSpPr txBox="true"/>
              <p:nvPr/>
            </p:nvSpPr>
            <p:spPr>
              <a:xfrm>
                <a:off x="139700" y="73025"/>
                <a:ext cx="533400" cy="600075"/>
              </a:xfrm>
              <a:prstGeom prst="rect">
                <a:avLst/>
              </a:prstGeom>
            </p:spPr>
            <p:txBody>
              <a:bodyPr anchor="ctr" rtlCol="false" tIns="50800" lIns="50800" bIns="50800" rIns="50800"/>
              <a:lstStyle/>
              <a:p>
                <a:pPr algn="ctr">
                  <a:lnSpc>
                    <a:spcPts val="4199"/>
                  </a:lnSpc>
                </a:pPr>
              </a:p>
            </p:txBody>
          </p:sp>
        </p:grpSp>
      </p:grpSp>
      <p:grpSp>
        <p:nvGrpSpPr>
          <p:cNvPr name="Group 43" id="43"/>
          <p:cNvGrpSpPr/>
          <p:nvPr/>
        </p:nvGrpSpPr>
        <p:grpSpPr>
          <a:xfrm rot="0">
            <a:off x="378403" y="5213316"/>
            <a:ext cx="923912" cy="923912"/>
            <a:chOff x="0" y="0"/>
            <a:chExt cx="1231883" cy="1231883"/>
          </a:xfrm>
        </p:grpSpPr>
        <p:sp>
          <p:nvSpPr>
            <p:cNvPr name="Freeform 44" id="44"/>
            <p:cNvSpPr/>
            <p:nvPr/>
          </p:nvSpPr>
          <p:spPr>
            <a:xfrm flipH="false" flipV="false" rot="0">
              <a:off x="0" y="0"/>
              <a:ext cx="1231883" cy="1231883"/>
            </a:xfrm>
            <a:custGeom>
              <a:avLst/>
              <a:gdLst/>
              <a:ahLst/>
              <a:cxnLst/>
              <a:rect r="r" b="b" t="t" l="l"/>
              <a:pathLst>
                <a:path h="1231883" w="1231883">
                  <a:moveTo>
                    <a:pt x="0" y="0"/>
                  </a:moveTo>
                  <a:lnTo>
                    <a:pt x="1231883" y="0"/>
                  </a:lnTo>
                  <a:lnTo>
                    <a:pt x="1231883" y="1231883"/>
                  </a:lnTo>
                  <a:lnTo>
                    <a:pt x="0" y="1231883"/>
                  </a:lnTo>
                  <a:lnTo>
                    <a:pt x="0" y="0"/>
                  </a:lnTo>
                  <a:close/>
                </a:path>
              </a:pathLst>
            </a:custGeom>
            <a:blipFill>
              <a:blip r:embed="rId2">
                <a:alphaModFix amt="36000"/>
                <a:extLst>
                  <a:ext uri="{96DAC541-7B7A-43D3-8B79-37D633B846F1}">
                    <asvg:svgBlip xmlns:asvg="http://schemas.microsoft.com/office/drawing/2016/SVG/main" r:embed="rId3"/>
                  </a:ext>
                </a:extLst>
              </a:blip>
              <a:stretch>
                <a:fillRect l="0" t="0" r="0" b="0"/>
              </a:stretch>
            </a:blipFill>
          </p:spPr>
        </p:sp>
        <p:grpSp>
          <p:nvGrpSpPr>
            <p:cNvPr name="Group 45" id="45"/>
            <p:cNvGrpSpPr/>
            <p:nvPr/>
          </p:nvGrpSpPr>
          <p:grpSpPr>
            <a:xfrm rot="0">
              <a:off x="108406" y="100553"/>
              <a:ext cx="1012238" cy="1012238"/>
              <a:chOff x="0" y="0"/>
              <a:chExt cx="812800" cy="812800"/>
            </a:xfrm>
          </p:grpSpPr>
          <p:sp>
            <p:nvSpPr>
              <p:cNvPr name="Freeform 46" id="46"/>
              <p:cNvSpPr/>
              <p:nvPr/>
            </p:nvSpPr>
            <p:spPr>
              <a:xfrm flipH="false" flipV="false" rot="0">
                <a:off x="47130" y="47130"/>
                <a:ext cx="718541" cy="718541"/>
              </a:xfrm>
              <a:custGeom>
                <a:avLst/>
                <a:gdLst/>
                <a:ahLst/>
                <a:cxnLst/>
                <a:rect r="r" b="b" t="t" l="l"/>
                <a:pathLst>
                  <a:path h="718541" w="718541">
                    <a:moveTo>
                      <a:pt x="464537" y="58137"/>
                    </a:moveTo>
                    <a:lnTo>
                      <a:pt x="660403" y="254003"/>
                    </a:lnTo>
                    <a:cubicBezTo>
                      <a:pt x="718540" y="312140"/>
                      <a:pt x="718540" y="406400"/>
                      <a:pt x="660403" y="464537"/>
                    </a:cubicBezTo>
                    <a:lnTo>
                      <a:pt x="464537" y="660403"/>
                    </a:lnTo>
                    <a:cubicBezTo>
                      <a:pt x="406400" y="718540"/>
                      <a:pt x="312140" y="718540"/>
                      <a:pt x="254003" y="660403"/>
                    </a:cubicBezTo>
                    <a:lnTo>
                      <a:pt x="58137" y="464537"/>
                    </a:lnTo>
                    <a:cubicBezTo>
                      <a:pt x="0" y="406400"/>
                      <a:pt x="0" y="312140"/>
                      <a:pt x="58137" y="254003"/>
                    </a:cubicBezTo>
                    <a:lnTo>
                      <a:pt x="254003" y="58137"/>
                    </a:lnTo>
                    <a:cubicBezTo>
                      <a:pt x="312140" y="0"/>
                      <a:pt x="406400" y="0"/>
                      <a:pt x="464537" y="58137"/>
                    </a:cubicBezTo>
                    <a:close/>
                  </a:path>
                </a:pathLst>
              </a:custGeom>
              <a:solidFill>
                <a:srgbClr val="153969"/>
              </a:solidFill>
            </p:spPr>
          </p:sp>
          <p:sp>
            <p:nvSpPr>
              <p:cNvPr name="TextBox 47" id="47"/>
              <p:cNvSpPr txBox="true"/>
              <p:nvPr/>
            </p:nvSpPr>
            <p:spPr>
              <a:xfrm>
                <a:off x="139700" y="73025"/>
                <a:ext cx="533400" cy="600075"/>
              </a:xfrm>
              <a:prstGeom prst="rect">
                <a:avLst/>
              </a:prstGeom>
            </p:spPr>
            <p:txBody>
              <a:bodyPr anchor="ctr" rtlCol="false" tIns="50800" lIns="50800" bIns="50800" rIns="50800"/>
              <a:lstStyle/>
              <a:p>
                <a:pPr algn="ctr">
                  <a:lnSpc>
                    <a:spcPts val="4199"/>
                  </a:lnSpc>
                </a:pPr>
              </a:p>
            </p:txBody>
          </p:sp>
        </p:grpSp>
      </p:grpSp>
      <p:sp>
        <p:nvSpPr>
          <p:cNvPr name="TextBox 48" id="48"/>
          <p:cNvSpPr txBox="true"/>
          <p:nvPr/>
        </p:nvSpPr>
        <p:spPr>
          <a:xfrm rot="0">
            <a:off x="2976003" y="2641282"/>
            <a:ext cx="2752453" cy="2248237"/>
          </a:xfrm>
          <a:prstGeom prst="rect">
            <a:avLst/>
          </a:prstGeom>
        </p:spPr>
        <p:txBody>
          <a:bodyPr anchor="t" rtlCol="false" tIns="0" lIns="0" bIns="0" rIns="0">
            <a:spAutoFit/>
          </a:bodyPr>
          <a:lstStyle/>
          <a:p>
            <a:pPr algn="l" marL="0" indent="0" lvl="0">
              <a:lnSpc>
                <a:spcPts val="2585"/>
              </a:lnSpc>
              <a:spcBef>
                <a:spcPct val="0"/>
              </a:spcBef>
            </a:pPr>
            <a:r>
              <a:rPr lang="en-US" sz="1846">
                <a:solidFill>
                  <a:srgbClr val="2A2E3A"/>
                </a:solidFill>
                <a:latin typeface="Helios"/>
                <a:ea typeface="Helios"/>
                <a:cs typeface="Helios"/>
                <a:sym typeface="Helios"/>
              </a:rPr>
              <a:t>Jewelry, pants, blouse, etc are the top 5 products, hence the company should bring more options and designs for the costumers to expect a growth in revenue</a:t>
            </a:r>
          </a:p>
        </p:txBody>
      </p:sp>
      <p:sp>
        <p:nvSpPr>
          <p:cNvPr name="TextBox 49" id="49"/>
          <p:cNvSpPr txBox="true"/>
          <p:nvPr/>
        </p:nvSpPr>
        <p:spPr>
          <a:xfrm rot="0">
            <a:off x="6257913" y="2641282"/>
            <a:ext cx="2752453" cy="1924441"/>
          </a:xfrm>
          <a:prstGeom prst="rect">
            <a:avLst/>
          </a:prstGeom>
        </p:spPr>
        <p:txBody>
          <a:bodyPr anchor="t" rtlCol="false" tIns="0" lIns="0" bIns="0" rIns="0">
            <a:spAutoFit/>
          </a:bodyPr>
          <a:lstStyle/>
          <a:p>
            <a:pPr algn="l" marL="0" indent="0" lvl="0">
              <a:lnSpc>
                <a:spcPts val="2585"/>
              </a:lnSpc>
              <a:spcBef>
                <a:spcPct val="0"/>
              </a:spcBef>
            </a:pPr>
            <a:r>
              <a:rPr lang="en-US" sz="1846">
                <a:solidFill>
                  <a:srgbClr val="2A2E3A"/>
                </a:solidFill>
                <a:latin typeface="Helios"/>
                <a:ea typeface="Helios"/>
                <a:cs typeface="Helios"/>
                <a:sym typeface="Helios"/>
              </a:rPr>
              <a:t>The company shall increase the numbers of outlets in Montana, California, Idaho to increase accessibility for a larger customer base </a:t>
            </a:r>
          </a:p>
        </p:txBody>
      </p:sp>
      <p:sp>
        <p:nvSpPr>
          <p:cNvPr name="TextBox 50" id="50"/>
          <p:cNvSpPr txBox="true"/>
          <p:nvPr/>
        </p:nvSpPr>
        <p:spPr>
          <a:xfrm rot="0">
            <a:off x="9204290" y="2617827"/>
            <a:ext cx="2752453" cy="2248237"/>
          </a:xfrm>
          <a:prstGeom prst="rect">
            <a:avLst/>
          </a:prstGeom>
        </p:spPr>
        <p:txBody>
          <a:bodyPr anchor="t" rtlCol="false" tIns="0" lIns="0" bIns="0" rIns="0">
            <a:spAutoFit/>
          </a:bodyPr>
          <a:lstStyle/>
          <a:p>
            <a:pPr algn="l" marL="0" indent="0" lvl="0">
              <a:lnSpc>
                <a:spcPts val="2585"/>
              </a:lnSpc>
              <a:spcBef>
                <a:spcPct val="0"/>
              </a:spcBef>
            </a:pPr>
            <a:r>
              <a:rPr lang="en-US" sz="1846">
                <a:solidFill>
                  <a:srgbClr val="2A2E3A"/>
                </a:solidFill>
                <a:latin typeface="Helios"/>
                <a:ea typeface="Helios"/>
                <a:cs typeface="Helios"/>
                <a:sym typeface="Helios"/>
              </a:rPr>
              <a:t>As for the demographics, majority of the customers belong to the middle aged segment and mostly are male. Teens are significantly less in percentage</a:t>
            </a:r>
          </a:p>
        </p:txBody>
      </p:sp>
      <p:sp>
        <p:nvSpPr>
          <p:cNvPr name="TextBox 51" id="51"/>
          <p:cNvSpPr txBox="true"/>
          <p:nvPr/>
        </p:nvSpPr>
        <p:spPr>
          <a:xfrm rot="0">
            <a:off x="12206614" y="2641282"/>
            <a:ext cx="2752453" cy="2572033"/>
          </a:xfrm>
          <a:prstGeom prst="rect">
            <a:avLst/>
          </a:prstGeom>
        </p:spPr>
        <p:txBody>
          <a:bodyPr anchor="t" rtlCol="false" tIns="0" lIns="0" bIns="0" rIns="0">
            <a:spAutoFit/>
          </a:bodyPr>
          <a:lstStyle/>
          <a:p>
            <a:pPr algn="l" marL="0" indent="0" lvl="0">
              <a:lnSpc>
                <a:spcPts val="2585"/>
              </a:lnSpc>
              <a:spcBef>
                <a:spcPct val="0"/>
              </a:spcBef>
            </a:pPr>
            <a:r>
              <a:rPr lang="en-US" sz="1846">
                <a:solidFill>
                  <a:srgbClr val="2A2E3A"/>
                </a:solidFill>
                <a:latin typeface="Helios"/>
                <a:ea typeface="Helios"/>
                <a:cs typeface="Helios"/>
                <a:sym typeface="Helios"/>
              </a:rPr>
              <a:t>Very slight seasonal variation is observed with maximum sales in spring. The company shall offer higher discounts during fall to gain more customers and give vouchers for future use.</a:t>
            </a:r>
          </a:p>
        </p:txBody>
      </p:sp>
      <p:sp>
        <p:nvSpPr>
          <p:cNvPr name="TextBox 52" id="52"/>
          <p:cNvSpPr txBox="true"/>
          <p:nvPr/>
        </p:nvSpPr>
        <p:spPr>
          <a:xfrm rot="0">
            <a:off x="15206717" y="2641282"/>
            <a:ext cx="2752453" cy="953053"/>
          </a:xfrm>
          <a:prstGeom prst="rect">
            <a:avLst/>
          </a:prstGeom>
        </p:spPr>
        <p:txBody>
          <a:bodyPr anchor="t" rtlCol="false" tIns="0" lIns="0" bIns="0" rIns="0">
            <a:spAutoFit/>
          </a:bodyPr>
          <a:lstStyle/>
          <a:p>
            <a:pPr algn="l" marL="0" indent="0" lvl="0">
              <a:lnSpc>
                <a:spcPts val="2585"/>
              </a:lnSpc>
              <a:spcBef>
                <a:spcPct val="0"/>
              </a:spcBef>
            </a:pPr>
            <a:r>
              <a:rPr lang="en-US" sz="1846">
                <a:solidFill>
                  <a:srgbClr val="2A2E3A"/>
                </a:solidFill>
                <a:latin typeface="Helios"/>
                <a:ea typeface="Helios"/>
                <a:cs typeface="Helios"/>
                <a:sym typeface="Helios"/>
              </a:rPr>
              <a:t>The average price paid by customers after discounts is lower.</a:t>
            </a:r>
          </a:p>
        </p:txBody>
      </p:sp>
      <p:sp>
        <p:nvSpPr>
          <p:cNvPr name="TextBox 53" id="53"/>
          <p:cNvSpPr txBox="true"/>
          <p:nvPr/>
        </p:nvSpPr>
        <p:spPr>
          <a:xfrm rot="0">
            <a:off x="223550" y="6308235"/>
            <a:ext cx="4128679" cy="2572033"/>
          </a:xfrm>
          <a:prstGeom prst="rect">
            <a:avLst/>
          </a:prstGeom>
        </p:spPr>
        <p:txBody>
          <a:bodyPr anchor="t" rtlCol="false" tIns="0" lIns="0" bIns="0" rIns="0">
            <a:spAutoFit/>
          </a:bodyPr>
          <a:lstStyle/>
          <a:p>
            <a:pPr algn="l" marL="0" indent="0" lvl="0">
              <a:lnSpc>
                <a:spcPts val="2585"/>
              </a:lnSpc>
              <a:spcBef>
                <a:spcPct val="0"/>
              </a:spcBef>
            </a:pPr>
            <a:r>
              <a:rPr lang="en-US" sz="1846">
                <a:solidFill>
                  <a:srgbClr val="2A2E3A"/>
                </a:solidFill>
                <a:latin typeface="Helios"/>
                <a:ea typeface="Helios"/>
                <a:cs typeface="Helios"/>
                <a:sym typeface="Helios"/>
              </a:rPr>
              <a:t>The 4 most sought after shipping methods are free, express and store pickup. The company shall collaborate and form more extensive delivery networks to offer express deliveries and as mentioned earlier, opening more stores will give higher flexibility for customers (for store pickup)</a:t>
            </a:r>
          </a:p>
        </p:txBody>
      </p:sp>
      <p:sp>
        <p:nvSpPr>
          <p:cNvPr name="TextBox 54" id="54"/>
          <p:cNvSpPr txBox="true"/>
          <p:nvPr/>
        </p:nvSpPr>
        <p:spPr>
          <a:xfrm rot="0">
            <a:off x="6128505" y="6259733"/>
            <a:ext cx="4128679" cy="2572033"/>
          </a:xfrm>
          <a:prstGeom prst="rect">
            <a:avLst/>
          </a:prstGeom>
        </p:spPr>
        <p:txBody>
          <a:bodyPr anchor="t" rtlCol="false" tIns="0" lIns="0" bIns="0" rIns="0">
            <a:spAutoFit/>
          </a:bodyPr>
          <a:lstStyle/>
          <a:p>
            <a:pPr algn="l" marL="0" indent="0" lvl="0">
              <a:lnSpc>
                <a:spcPts val="2585"/>
              </a:lnSpc>
              <a:spcBef>
                <a:spcPct val="0"/>
              </a:spcBef>
            </a:pPr>
            <a:r>
              <a:rPr lang="en-US" sz="1846">
                <a:solidFill>
                  <a:srgbClr val="2A2E3A"/>
                </a:solidFill>
                <a:latin typeface="Helios"/>
                <a:ea typeface="Helios"/>
                <a:cs typeface="Helios"/>
                <a:sym typeface="Helios"/>
              </a:rPr>
              <a:t>Clothing and accessories categories have performed better than average where as footwear and outwear lacked behind, falling below average, thus the company shall do customer surveys to see what the customers exactly want so that they offer what the customer wants.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DAG3lMNWO2Y</dc:identifier>
  <dcterms:modified xsi:type="dcterms:W3CDTF">2011-08-01T06:04:30Z</dcterms:modified>
  <cp:revision>1</cp:revision>
  <dc:title>Sales and Customer Behavior</dc:title>
</cp:coreProperties>
</file>